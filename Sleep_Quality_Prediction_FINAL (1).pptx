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005F7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011680"/>
            <a:ext cx="1645920" cy="1645920"/>
          </a:xfrm>
          <a:prstGeom prst="ellipse">
            <a:avLst/>
          </a:prstGeom>
          <a:solidFill>
            <a:srgbClr val="0A9396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411480"/>
            <a:ext cx="2926080" cy="2743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11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BTech CSE  |  ML Project  |  2024–25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Prediction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Digital Biomarkers &amp; Neural Networks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5303520" cy="2743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500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D2BD"/>
                </a:solidFill>
              </a:rPr>
              <a:t>Based on: Lee H, Cho M, Lee SW, Park S — Frontiers in Psychiatry, 2025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Group Members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2423160" cy="402336"/>
          </a:xfrm>
          <a:prstGeom prst="rect">
            <a:avLst/>
          </a:prstGeom>
          <a:solidFill>
            <a:srgbClr val="005F73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363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Shreyas Borkar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319272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ID: 202351132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3108960"/>
            <a:ext cx="2423160" cy="402336"/>
          </a:xfrm>
          <a:prstGeom prst="rect">
            <a:avLst/>
          </a:prstGeom>
          <a:solidFill>
            <a:srgbClr val="005F7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31363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Shabbir Anees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63240" y="3319272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ID: 202352331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2423160" cy="402336"/>
          </a:xfrm>
          <a:prstGeom prst="rect">
            <a:avLst/>
          </a:prstGeom>
          <a:solidFill>
            <a:srgbClr val="005F73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3931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Vamshi Charan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ID: 202352337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71800" y="3611880"/>
            <a:ext cx="2423160" cy="402336"/>
          </a:xfrm>
          <a:prstGeom prst="rect">
            <a:avLst/>
          </a:prstGeom>
          <a:solidFill>
            <a:srgbClr val="005F7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363931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Siddhikesh Gavit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63240" y="3822192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ID: 202351040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1572768" cy="53035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5720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Models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57400" y="4526280"/>
            <a:ext cx="1572768" cy="53035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8" name="Text 26"/>
          <p:cNvSpPr/>
          <p:nvPr/>
        </p:nvSpPr>
        <p:spPr>
          <a:xfrm>
            <a:off x="2057400" y="45720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NNs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57400" y="48463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Neural Nets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4526280"/>
            <a:ext cx="1572768" cy="53035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45720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0.870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48463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Best AUROC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40680" y="4526280"/>
            <a:ext cx="1572768" cy="53035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45720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LIME+SHAP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8463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Explainability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32320" y="4526280"/>
            <a:ext cx="1572768" cy="53035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45720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Subject-Wise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0" y="48463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Split (No Leakage)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40233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GIVEN — Context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04241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33–50% of adults experience insomnia symptoms (AASM)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Existing assessment: lab polysomnography (expensive) or self-report diaries (biased)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Wearable devices collect continuous HRV, steps, accelerometer data 24/7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749808"/>
            <a:ext cx="43891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749808"/>
            <a:ext cx="438912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7498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OBJECTIVE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1042416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Predict next-day WASO (Wake After Sleep Onset) from 7 days of wearable data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Binary classification: Class 0 = uninterrupted sleep | Class 1 = has awakening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Compare 7 ML models; explain predictions using LIME &amp; SHAP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023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402336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214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CONSTRAINTS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414016"/>
            <a:ext cx="3749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4A261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Original paper data not publicly released → synthetic dataset used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4A261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WASO self-reported (not actigraphy) — introduces human bias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4A261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82 participants, young cohort — limited diversity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121408"/>
            <a:ext cx="43891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2121408"/>
            <a:ext cx="4389120" cy="25603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1214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APPROACH / TECHNOLOGY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2414016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86FF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HRV features (LF/HF, RMSSD) extracted from PPG sensor via HeartPy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86FF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7-day sliding window → LSTM / GRU / TCN / Transformer + RF / XGB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86FF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Python, TensorFlow/Keras, scikit-learn, SHAP, LIME on Google Colab (T4 GPU)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46704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46704"/>
            <a:ext cx="402336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467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MOTIVATION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D9E75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Proactive sleep health: predict poor sleep before it happens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D9E75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LF/HF ratio (daytime stress signal) is a strong predictor of night WASO — paper showed r = 0.22; our study r = 0.74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346704"/>
            <a:ext cx="4389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3346704"/>
            <a:ext cx="4389120" cy="25603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3467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363931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B2FBE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Personalized sleep health alerts on smartwatches / mobile apps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B2FBE"/>
                </a:solidFill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Clinical decision support for insomnia intervention and treatment planning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370832"/>
            <a:ext cx="8595360" cy="658368"/>
          </a:xfrm>
          <a:prstGeom prst="rect">
            <a:avLst/>
          </a:prstGeom>
          <a:solidFill>
            <a:srgbClr val="EEF7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1655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F73"/>
                </a:solidFill>
              </a:rPr>
              <a:t>Paper Reference: </a:t>
            </a:r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</a:rPr>
              <a:t>Lee H, Cho M, Lee SW, Park S (2025). "Predicting sleep quality with digital biomarkers and artificial neural networks."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Frontiers in Psychiatry 16:1591448.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Description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51206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512064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DATASET — Structure &amp; Features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069848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069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08813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Synthetic dataset mirroring Lee et al. 2025 Table 2 statistics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362456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36245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Participants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13807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82 (41 winter 2023 + 41 summer 2023), avg age 25.3 ± 6.7 yrs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1655064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65506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167335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27 days per participant → 2,214 total daily records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1947672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9476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196596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Samsung Galaxy Watch Active 2 (PPG @ 10 Hz, HR @ 1 Hz, Steps)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2240280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2402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 (7)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2258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lf_hf, rmssd, steps, accel, gyro — from watch + isi, whoqol — from questionnaires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2532888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5328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255117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WASO binary (0 = no awakening, 1 = awakening). Mean WASO = 13.1 ± 6.5 min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2825496"/>
            <a:ext cx="12801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825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Imbalance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45920" y="284378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Class 0: 41.5%   |   Class 1: 58.5%   →   managed with class_weight in training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749808"/>
            <a:ext cx="3291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749808"/>
            <a:ext cx="329184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749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 / VAL / TEST SPLIT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1042416"/>
            <a:ext cx="960120" cy="7772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106070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129844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66 subjects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1,386 sequences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80%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11696" y="1042416"/>
            <a:ext cx="960120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7" name="Text 35"/>
          <p:cNvSpPr/>
          <p:nvPr/>
        </p:nvSpPr>
        <p:spPr>
          <a:xfrm>
            <a:off x="6711696" y="106070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11696" y="129844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Within train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15% of train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Early stopping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54112" y="1042416"/>
            <a:ext cx="960120" cy="77724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0" name="Text 38"/>
          <p:cNvSpPr/>
          <p:nvPr/>
        </p:nvSpPr>
        <p:spPr>
          <a:xfrm>
            <a:off x="7754112" y="106070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54112" y="129844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16 subjects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336 sequences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20%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2356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24B4A"/>
                </a:solidFill>
              </a:rPr>
              <a:t>Subject-wise split: ZERO participant overlap between train &amp; test sets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2029968"/>
            <a:ext cx="3291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77840" y="2029968"/>
            <a:ext cx="3291840" cy="25603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5" name="Text 43"/>
          <p:cNvSpPr/>
          <p:nvPr/>
        </p:nvSpPr>
        <p:spPr>
          <a:xfrm>
            <a:off x="5577840" y="20299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PLATFORM &amp; TOOLS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69280" y="232257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Google Colab (T4 GPU, free tier)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247345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Python 3.10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0" y="262432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TensorFlow 2.x / Keras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9280" y="277520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scikit-learn, XGBoost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69280" y="29260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LIME, SHAP, statsmodels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69280" y="307695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pandas, numpy, matplotlib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3337560"/>
            <a:ext cx="8595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74320" y="3337560"/>
            <a:ext cx="85953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3337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PREPROCESSING PIPELINE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3639312"/>
            <a:ext cx="1298448" cy="29260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36393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KNN Imputation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65760" y="3950208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k=3 neighbors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Fill ~3% missing sensor values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673352" y="3749040"/>
            <a:ext cx="109728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9" name="Shape 57"/>
          <p:cNvSpPr/>
          <p:nvPr/>
        </p:nvSpPr>
        <p:spPr>
          <a:xfrm>
            <a:off x="1801368" y="3639312"/>
            <a:ext cx="1298448" cy="29260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60" name="Text 58"/>
          <p:cNvSpPr/>
          <p:nvPr/>
        </p:nvSpPr>
        <p:spPr>
          <a:xfrm>
            <a:off x="1801368" y="36393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Standard Scaler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801368" y="3950208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Fit on train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Apply to test — no leakage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08960" y="3749040"/>
            <a:ext cx="109728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3" name="Shape 61"/>
          <p:cNvSpPr/>
          <p:nvPr/>
        </p:nvSpPr>
        <p:spPr>
          <a:xfrm>
            <a:off x="3236976" y="3639312"/>
            <a:ext cx="1298448" cy="29260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64" name="Text 62"/>
          <p:cNvSpPr/>
          <p:nvPr/>
        </p:nvSpPr>
        <p:spPr>
          <a:xfrm>
            <a:off x="3236976" y="36393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Corr + VIF Filter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236976" y="3950208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Remove hr, distance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Keep 7 final features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44568" y="3749040"/>
            <a:ext cx="109728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7" name="Shape 65"/>
          <p:cNvSpPr/>
          <p:nvPr/>
        </p:nvSpPr>
        <p:spPr>
          <a:xfrm>
            <a:off x="4672584" y="3639312"/>
            <a:ext cx="1298448" cy="29260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68" name="Text 66"/>
          <p:cNvSpPr/>
          <p:nvPr/>
        </p:nvSpPr>
        <p:spPr>
          <a:xfrm>
            <a:off x="4672584" y="36393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4. 7-Day Window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72584" y="3950208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Sliding window stride=1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1,722 total sequences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80176" y="3749040"/>
            <a:ext cx="109728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1" name="Shape 69"/>
          <p:cNvSpPr/>
          <p:nvPr/>
        </p:nvSpPr>
        <p:spPr>
          <a:xfrm>
            <a:off x="6108192" y="3639312"/>
            <a:ext cx="1298448" cy="29260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72" name="Text 70"/>
          <p:cNvSpPr/>
          <p:nvPr/>
        </p:nvSpPr>
        <p:spPr>
          <a:xfrm>
            <a:off x="6108192" y="36393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5. Class Weighting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108192" y="3950208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neg/pos ratio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Balances 41.5/58.5 split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415784" y="3749040"/>
            <a:ext cx="109728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5" name="Shape 73"/>
          <p:cNvSpPr/>
          <p:nvPr/>
        </p:nvSpPr>
        <p:spPr>
          <a:xfrm>
            <a:off x="7543800" y="3639312"/>
            <a:ext cx="1298448" cy="29260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76" name="Text 74"/>
          <p:cNvSpPr/>
          <p:nvPr/>
        </p:nvSpPr>
        <p:spPr>
          <a:xfrm>
            <a:off x="7543800" y="36393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6. ROC Threshold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543800" y="3950208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Youden's J per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Not fixed 0.5 default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Neural Architecture, Training Process &amp; Loss Function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ALL 7 MODELS — Architecture Summary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042416"/>
            <a:ext cx="8558784" cy="155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5156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ARIMA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05156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Order (2,0,1) on LF/HF time series. ROC-threshold classification.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1202436"/>
            <a:ext cx="8558784" cy="155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1158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121158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500 trees, max_depth=10, class_weight balanced. Last-day features.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" y="1362456"/>
            <a:ext cx="8558784" cy="155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7160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XGBoost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137160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600 trees, lr=0.03, subsample=0.8, scale_pos_weight for imbalance.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1522476"/>
            <a:ext cx="8558784" cy="155448"/>
          </a:xfrm>
          <a:prstGeom prst="rect">
            <a:avLst/>
          </a:prstGeom>
          <a:solidFill>
            <a:srgbClr val="F3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53162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GRU 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153162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3-layer GRU (128→64→32) + BN + Dense(64,32,1). Dropout=0.2.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" y="1682496"/>
            <a:ext cx="8558784" cy="155448"/>
          </a:xfrm>
          <a:prstGeom prst="rect">
            <a:avLst/>
          </a:prstGeom>
          <a:solidFill>
            <a:srgbClr val="F3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69164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TCN 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169164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 residual blocks, dilation 1→2→4, causal padding, GAP → Dense.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1842516"/>
            <a:ext cx="8558784" cy="155448"/>
          </a:xfrm>
          <a:prstGeom prst="rect">
            <a:avLst/>
          </a:prstGeom>
          <a:solidFill>
            <a:srgbClr val="F3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85166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Transformer 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185166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 encoder blocks, 4 heads, d_model=64, positional encoding, GAP.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2002536"/>
            <a:ext cx="8558784" cy="155448"/>
          </a:xfrm>
          <a:prstGeom prst="rect">
            <a:avLst/>
          </a:prstGeom>
          <a:solidFill>
            <a:srgbClr val="E6F7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011680"/>
            <a:ext cx="1600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LSTM ✦ BEST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2011680"/>
            <a:ext cx="6675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BiLSTM(128)→LSTM(64)→LSTM(32) + BN + Dense(128→64→32→1).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249424"/>
            <a:ext cx="530352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249424"/>
            <a:ext cx="530352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2494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LSTM — Layer-by-Layer Architecture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560320"/>
            <a:ext cx="5193792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57860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Input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257860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(batch, 7, 7)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39312" y="2578608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 days × 7 features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779776"/>
            <a:ext cx="519379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79806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BiLSTM (128 units)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06040" y="279806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(batch, 7, 256)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39312" y="2798064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Reads sequence forward + backward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999232"/>
            <a:ext cx="519379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01752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LSTM (64 units)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06040" y="301752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(batch, 7, 64)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39312" y="301752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Temporal feature compression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218688"/>
            <a:ext cx="519379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23697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LSTM (32 units)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606040" y="323697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(batch, 32)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39312" y="3236976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Single summarized state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3438144"/>
            <a:ext cx="519379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45643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BatchNorm + Dense(128)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606040" y="3456432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39312" y="345643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Feature learning + normalization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3657600"/>
            <a:ext cx="5193792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367588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Dropout(0.45) + Dense(64)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06040" y="367588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39312" y="3675888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Regularization layer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3877056"/>
            <a:ext cx="5193792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89534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73"/>
                </a:solidFill>
              </a:rPr>
              <a:t>Dense(1)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606040" y="389534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39312" y="3895344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Output: P(awakening) ∈ [0,1]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760720" y="2249424"/>
            <a:ext cx="3108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760720" y="2249424"/>
            <a:ext cx="3108960" cy="25603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63" name="Text 61"/>
          <p:cNvSpPr/>
          <p:nvPr/>
        </p:nvSpPr>
        <p:spPr>
          <a:xfrm>
            <a:off x="5760720" y="22494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TRAINING HYPERPARAMETERS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852160" y="256032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Optimizer: Adam  |  LR: 5e-4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52160" y="271576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Batch size: 32   |  Max epochs: 150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852160" y="287121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EarlyStopping: val_auc  patience=15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52160" y="302666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ReduceLROnPlateau: factor=0.4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760720" y="3273552"/>
            <a:ext cx="3108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760720" y="3273552"/>
            <a:ext cx="3108960" cy="25603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70" name="Text 68"/>
          <p:cNvSpPr/>
          <p:nvPr/>
        </p:nvSpPr>
        <p:spPr>
          <a:xfrm>
            <a:off x="5760720" y="3273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LOSS FUNCTION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852160" y="35753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F73"/>
                </a:solidFill>
              </a:rPr>
              <a:t>Binary Cross-Entropy: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852160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-[y*log(p) + (1-y)*log(1-p)]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852160" y="397764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 = true label (0 or 1)  |  p = predicted probability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4187952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74320" y="4187952"/>
            <a:ext cx="85953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41879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LSTM TRAINING CURVES (Loss / Accuracy / AUROC)</a:t>
            </a:r>
            <a:endParaRPr lang="en-US" sz="950" dirty="0"/>
          </a:p>
        </p:txBody>
      </p:sp>
      <p:pic>
        <p:nvPicPr>
          <p:cNvPr id="7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4480560"/>
            <a:ext cx="841248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 1 — Qualitative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53035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530352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EXPLORATORY DATA ANALYSIS (EDA) — 3 Key Findings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051560"/>
            <a:ext cx="5138928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0" y="749808"/>
            <a:ext cx="3154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749808"/>
            <a:ext cx="315468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0" y="7498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THESE PLOTS SHOW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06440" y="10515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F73"/>
                </a:solidFill>
              </a:rPr>
              <a:t>📊  Fig 4 Replica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06440" y="1298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Higher LF/HF group had significantly more WASO (Wilcoxon p=0.000). Confirms paper finding.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06440" y="170992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F73"/>
                </a:solidFill>
              </a:rPr>
              <a:t>📈  Scatter (r=0.74)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06440" y="19568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Strong positive correlation between LF/HF and WASO. Our dataset signal is stronger than paper's r=0.22.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06440" y="23682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F73"/>
                </a:solidFill>
              </a:rPr>
              <a:t>📅  Weekend Effect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06440" y="26151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WASO rises on Sat/Sun — matches paper's Figure S5 observation about weekly sleep patterns.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054096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054096"/>
            <a:ext cx="4297680" cy="25603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305409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LIME — Feature Importance (LSTM) — Replicates Fig.5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3346704"/>
            <a:ext cx="4151376" cy="153619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754880" y="3054096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54880" y="3054096"/>
            <a:ext cx="4114800" cy="25603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1"/>
          <p:cNvSpPr/>
          <p:nvPr/>
        </p:nvSpPr>
        <p:spPr>
          <a:xfrm>
            <a:off x="4754880" y="30540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SHAP — Global Feature Importance (Our Contribution)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28032" y="3346704"/>
            <a:ext cx="3968496" cy="153619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274320" y="5029200"/>
            <a:ext cx="859536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3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Top features (both LIME &amp; SHAP agree): rmssd / lf_hf / isi  — all HRV and stress-related. Confirms biological validity.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 2 — Qualitative / Quantitative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5720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457200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LSTM CONFUSION MATRIX (Threshold = 0.548)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051560"/>
            <a:ext cx="4425696" cy="17190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0" y="749808"/>
            <a:ext cx="3840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749808"/>
            <a:ext cx="384048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749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CONFUSION MATRIX EXPLANATION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74920" y="1078992"/>
            <a:ext cx="91440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4" name="Text 11"/>
          <p:cNvSpPr/>
          <p:nvPr/>
        </p:nvSpPr>
        <p:spPr>
          <a:xfrm>
            <a:off x="5230368" y="10972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True Positive (143)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0" y="10972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Correctly predicted awakening — highest cell.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74920" y="1426464"/>
            <a:ext cx="91440" cy="25603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144475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</a:rPr>
              <a:t>True Negative (101)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58000" y="14447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Correctly predicted no awakening.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74920" y="1773936"/>
            <a:ext cx="9144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7"/>
          <p:cNvSpPr/>
          <p:nvPr/>
        </p:nvSpPr>
        <p:spPr>
          <a:xfrm>
            <a:off x="5230368" y="17922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False Negative (84)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58000" y="179222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Missed awakenings — main source of lower recall.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74920" y="2121408"/>
            <a:ext cx="91440" cy="2560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3" name="Text 20"/>
          <p:cNvSpPr/>
          <p:nvPr/>
        </p:nvSpPr>
        <p:spPr>
          <a:xfrm>
            <a:off x="5230368" y="213969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False Positive (12)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58000" y="21396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False alarms — very few, hence high precision (0.923).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74920" y="2468880"/>
            <a:ext cx="9144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6" name="Text 23"/>
          <p:cNvSpPr/>
          <p:nvPr/>
        </p:nvSpPr>
        <p:spPr>
          <a:xfrm>
            <a:off x="5230368" y="2487168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F73"/>
                </a:solidFill>
              </a:rPr>
              <a:t>Threshold: 0.548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858000" y="24871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Youden's J = TPR − FPR maximized at this point.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2944368"/>
            <a:ext cx="4572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2944368"/>
            <a:ext cx="457200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2944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PERMUTATION IMPORTANCE — Feature Validation Test</a:t>
            </a:r>
            <a:endParaRPr lang="en-US" sz="9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3246120"/>
            <a:ext cx="4425696" cy="166420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029200" y="2944368"/>
            <a:ext cx="384048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029200" y="2944368"/>
            <a:ext cx="384048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0"/>
          <p:cNvSpPr/>
          <p:nvPr/>
        </p:nvSpPr>
        <p:spPr>
          <a:xfrm>
            <a:off x="502920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PERMUTATION IMPORTANCE — WHAT IT MEANS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5120640" y="3255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F73"/>
                </a:solidFill>
              </a:rPr>
              <a:t>Method (ChatGPT recommended):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120640" y="3456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Shuffle one feature's values randomly, re-run prediction. Larger accuracy drop = feature was genuinely important.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5120640" y="38404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F73"/>
                </a:solidFill>
              </a:rPr>
              <a:t>Key Findings: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120640" y="40599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whoqol (QoL) drops accuracy most when shuffled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5120640" y="424281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isi (insomnia severity) also significant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120640" y="442569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lf_hf has high variance — noisy but real signal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5120640" y="46085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Negative bars (rmssd, gyro) = model uses them through correlation with other features, not independently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5120640" y="47914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9E75"/>
                </a:solidFill>
              </a:rPr>
              <a:t>✅ No leakage detected — genuine signal confirmed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 3 — Quantitative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COMPARISON — All 8 Models (Subject-Wise Split, Honest Results)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042416"/>
            <a:ext cx="8430768" cy="23591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602736"/>
            <a:ext cx="8595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3602736"/>
            <a:ext cx="8595360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360273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NUMERICAL RESULTS TABLE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95344"/>
          <a:ext cx="8503920" cy="1115568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1005840"/>
                <a:gridCol w="1005840"/>
                <a:gridCol w="960120"/>
                <a:gridCol w="960120"/>
              </a:tblGrid>
              <a:tr h="1234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AUROC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Ensemble (LSTM+XGB) 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Hybrid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0.870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Tree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5F73"/>
                          </a:solidFill>
                        </a:rPr>
                        <a:t>LSTM (best NN)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2FBE"/>
                          </a:solidFill>
                        </a:rPr>
                        <a:t>Neural 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0.923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0.630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GRU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2FBE"/>
                          </a:solidFill>
                        </a:rPr>
                        <a:t>Neural 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0.951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0.604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Transformer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2FBE"/>
                          </a:solidFill>
                        </a:rPr>
                        <a:t>Neural 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TCN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B2FBE"/>
                          </a:solidFill>
                        </a:rPr>
                        <a:t>Neural 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Tree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0.845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ARIMA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Statistical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0.613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0.756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0.485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320040" y="502920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Paper (random split): LSTM Acc=0.904 AUROC=0.901 → Our subject-wise split gives honest generalisation. All NNs beat ARIMA by 0.37+ AUROC.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5F7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 &amp; References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6583680" cy="566928"/>
          </a:xfrm>
          <a:prstGeom prst="rect">
            <a:avLst/>
          </a:prstGeom>
          <a:solidFill>
            <a:srgbClr val="005F73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713232"/>
            <a:ext cx="347472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71323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758952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Neural networks dominate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96012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LSTM, GRU, TCN, Transformer all achieve AUROC &gt; 0.85 — far above ARIMA's 0.485. Deep learning captures 7-day temporal patterns that trees and statistics miss.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371600"/>
            <a:ext cx="6583680" cy="566928"/>
          </a:xfrm>
          <a:prstGeom prst="rect">
            <a:avLst/>
          </a:prstGeom>
          <a:solidFill>
            <a:srgbClr val="005F73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371600"/>
            <a:ext cx="347472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371600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" y="1417320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Honest evaluation is critical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618488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Paper's random split (0.904 AUROC) inflated results. Our subject-wise split (0.856) is genuinely generalisable — a stronger academic contribution.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029968"/>
            <a:ext cx="6583680" cy="566928"/>
          </a:xfrm>
          <a:prstGeom prst="rect">
            <a:avLst/>
          </a:prstGeom>
          <a:solidFill>
            <a:srgbClr val="005F73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" y="2029968"/>
            <a:ext cx="347472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029968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207568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LF/HF ratio is the core biomarker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" y="2276856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Confirmed by LIME, SHAP, and permutation importance. Daytime sympathetic nervous system activity strongly predicts night-time sleep fragmentation.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688336"/>
            <a:ext cx="6583680" cy="566928"/>
          </a:xfrm>
          <a:prstGeom prst="rect">
            <a:avLst/>
          </a:prstGeom>
          <a:solidFill>
            <a:srgbClr val="005F73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" y="2688336"/>
            <a:ext cx="347472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2688336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" y="2734056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Ensemble achieves best overall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2935224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LSTM + XGBoost soft-voting (55/45) reaches AUROC=0.870 — our novel addition not in the paper. Combines temporal learning with feature precision.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346704"/>
            <a:ext cx="6583680" cy="566928"/>
          </a:xfrm>
          <a:prstGeom prst="rect">
            <a:avLst/>
          </a:prstGeom>
          <a:solidFill>
            <a:srgbClr val="005F73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" y="3346704"/>
            <a:ext cx="347472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" y="3346704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" y="3392424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Explainability validates the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" y="359359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Both LIME (local) and SHAP (global) agree on top features: rmssd, lf_hf, isi. This ensures the model learned real biology, not spurious correlations.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713232"/>
            <a:ext cx="1938528" cy="3291840"/>
          </a:xfrm>
          <a:prstGeom prst="rect">
            <a:avLst/>
          </a:prstGeom>
          <a:solidFill>
            <a:srgbClr val="005F73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022592" y="7498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9396"/>
                </a:solidFill>
              </a:rPr>
              <a:t>Our Contributions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59168" y="1060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Subject-wise split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59168" y="1380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Bidirectional LSTM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9168" y="17007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SHAP analysis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59168" y="2020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LIME vs SHAP compare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59168" y="2340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Leakage audit suite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59168" y="26609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Ensemble model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59168" y="2980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ROC-optimal threshold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059936"/>
            <a:ext cx="8631936" cy="1005840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1056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352544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D2BD"/>
                </a:solidFill>
              </a:rPr>
              <a:t>[1] Lee H, Cho M, Lee SW, Park S (2025). "Predicting sleep quality with digital biomarkers and artificial neural networks." Frontiers in Psychiatry 16:1591448.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65760" y="4517136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D2BD"/>
                </a:solidFill>
              </a:rPr>
              <a:t>[2] Hochreiter S, Schmidhuber J (1997). Long short-term memory. Neural Computation 9(8):1735–1780.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365760" y="4681728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D2BD"/>
                </a:solidFill>
              </a:rPr>
              <a:t>[3] Lundberg SM, Lee SI (2017). A unified approach to interpreting model predictions. NIPS 30.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D2BD"/>
                </a:solidFill>
              </a:rPr>
              <a:t>[4] Ribeiro MT, Singh S, Guestrin C (2016). 'Why should I trust you?': Explaining the predictions of any classifier. KDD.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Quality Prediction Using Digital Biomarkers and Neural Networks</dc:title>
  <dc:subject>PptxGenJS Presentation</dc:subject>
  <dc:creator>PptxGenJS</dc:creator>
  <cp:lastModifiedBy>PptxGenJS</cp:lastModifiedBy>
  <cp:revision>1</cp:revision>
  <dcterms:created xsi:type="dcterms:W3CDTF">2026-04-21T18:17:12Z</dcterms:created>
  <dcterms:modified xsi:type="dcterms:W3CDTF">2026-04-21T18:17:12Z</dcterms:modified>
</cp:coreProperties>
</file>